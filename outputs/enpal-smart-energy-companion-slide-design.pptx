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830ae8f4f4e41" /><Relationship Type="http://schemas.openxmlformats.org/officeDocument/2006/relationships/extended-properties" Target="/docProps/app.xml" Id="R4ada3f96a6844878" /><Relationship Type="http://schemas.openxmlformats.org/officeDocument/2006/relationships/officeDocument" Target="/ppt/presentation.xml" Id="R5149d0dd52b7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d22225870474a"/>
  </p:sldMasterIdLst>
  <p:notesMasterIdLst>
    <p:notesMasterId xmlns:r="http://schemas.openxmlformats.org/officeDocument/2006/relationships" r:id="Re6035af19d3b4a1b"/>
  </p:notesMasterIdLst>
  <p:sldIdLst>
    <p:sldId xmlns:r="http://schemas.openxmlformats.org/officeDocument/2006/relationships" id="256" r:id="R9977d739ffa84b4d"/>
    <p:sldId xmlns:r="http://schemas.openxmlformats.org/officeDocument/2006/relationships" id="257" r:id="R6d67b0d8c96540bd"/>
    <p:sldId xmlns:r="http://schemas.openxmlformats.org/officeDocument/2006/relationships" id="258" r:id="Re2504a856c3d4078"/>
    <p:sldId xmlns:r="http://schemas.openxmlformats.org/officeDocument/2006/relationships" id="259" r:id="Ra4c7e0692d5e4f0a"/>
    <p:sldId xmlns:r="http://schemas.openxmlformats.org/officeDocument/2006/relationships" id="260" r:id="R276505ef50d149ac"/>
    <p:sldId xmlns:r="http://schemas.openxmlformats.org/officeDocument/2006/relationships" id="261" r:id="Rbaf723608df346bc"/>
    <p:sldId xmlns:r="http://schemas.openxmlformats.org/officeDocument/2006/relationships" id="262" r:id="R9c250fe0eff34693"/>
    <p:sldId xmlns:r="http://schemas.openxmlformats.org/officeDocument/2006/relationships" id="263" r:id="Rc106d092881e40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ca057259944e42" /><Relationship Type="http://schemas.openxmlformats.org/officeDocument/2006/relationships/slideMaster" Target="/ppt/slideMasters/slideMaster1.xml" Id="Rd54d22225870474a" /><Relationship Type="http://schemas.openxmlformats.org/officeDocument/2006/relationships/notesMaster" Target="/ppt/notesMasters/notesMaster1.xml" Id="Re6035af19d3b4a1b" /><Relationship Type="http://schemas.openxmlformats.org/officeDocument/2006/relationships/presProps" Target="/ppt/presProps.xml" Id="R1aecbade77e044cb" /><Relationship Type="http://schemas.openxmlformats.org/officeDocument/2006/relationships/tableStyles" Target="/ppt/tableStyles.xml" Id="R6f93814db3504091" /><Relationship Type="http://schemas.openxmlformats.org/officeDocument/2006/relationships/slide" Target="/ppt/slides/slide1.xml" Id="R9977d739ffa84b4d" /><Relationship Type="http://schemas.openxmlformats.org/officeDocument/2006/relationships/slide" Target="/ppt/slides/slide2.xml" Id="R6d67b0d8c96540bd" /><Relationship Type="http://schemas.openxmlformats.org/officeDocument/2006/relationships/slide" Target="/ppt/slides/slide3.xml" Id="Re2504a856c3d4078" /><Relationship Type="http://schemas.openxmlformats.org/officeDocument/2006/relationships/slide" Target="/ppt/slides/slide4.xml" Id="Ra4c7e0692d5e4f0a" /><Relationship Type="http://schemas.openxmlformats.org/officeDocument/2006/relationships/slide" Target="/ppt/slides/slide5.xml" Id="R276505ef50d149ac" /><Relationship Type="http://schemas.openxmlformats.org/officeDocument/2006/relationships/slide" Target="/ppt/slides/slide6.xml" Id="Rbaf723608df346bc" /><Relationship Type="http://schemas.openxmlformats.org/officeDocument/2006/relationships/slide" Target="/ppt/slides/slide7.xml" Id="R9c250fe0eff34693" /><Relationship Type="http://schemas.openxmlformats.org/officeDocument/2006/relationships/slide" Target="/ppt/slides/slide8.xml" Id="Rc106d092881e40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f5d9c42ac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ea4050bbd4816" /><Relationship Type="http://schemas.openxmlformats.org/officeDocument/2006/relationships/notesMaster" Target="/ppt/notesMasters/notesMaster1.xml" Id="R13b502411dc3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5f27552ab94582" /><Relationship Type="http://schemas.openxmlformats.org/officeDocument/2006/relationships/notesMaster" Target="/ppt/notesMasters/notesMaster1.xml" Id="Rfba9b8e50b4943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94b0355cf4b67" /><Relationship Type="http://schemas.openxmlformats.org/officeDocument/2006/relationships/notesMaster" Target="/ppt/notesMasters/notesMaster1.xml" Id="R53ddc22cb11f46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791d42dccc413f" /><Relationship Type="http://schemas.openxmlformats.org/officeDocument/2006/relationships/notesMaster" Target="/ppt/notesMasters/notesMaster1.xml" Id="Recb23e2a7675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8a92555d04935" /><Relationship Type="http://schemas.openxmlformats.org/officeDocument/2006/relationships/notesMaster" Target="/ppt/notesMasters/notesMaster1.xml" Id="R792624e3be4147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796ef77d94532" /><Relationship Type="http://schemas.openxmlformats.org/officeDocument/2006/relationships/notesMaster" Target="/ppt/notesMasters/notesMaster1.xml" Id="R589e826c87f242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924b0f3fe4473" /><Relationship Type="http://schemas.openxmlformats.org/officeDocument/2006/relationships/notesMaster" Target="/ppt/notesMasters/notesMaster1.xml" Id="R689dd85e0a9542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b43cf230b64207" /><Relationship Type="http://schemas.openxmlformats.org/officeDocument/2006/relationships/notesMaster" Target="/ppt/notesMasters/notesMaster1.xml" Id="R3ea0af06cf76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339acbdd6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c595510d4945bd" /><Relationship Type="http://schemas.openxmlformats.org/officeDocument/2006/relationships/slideLayout" Target="/ppt/slideLayouts/slideLayout1.xml" Id="R36b8224bf871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8224bf871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58de50bc049a3" /><Relationship Type="http://schemas.openxmlformats.org/officeDocument/2006/relationships/notesSlide" Target="/ppt/notesSlides/notesSlide1.xml" Id="R87f2bda71bf541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bf51263c04ce8" /><Relationship Type="http://schemas.openxmlformats.org/officeDocument/2006/relationships/notesSlide" Target="/ppt/notesSlides/notesSlide2.xml" Id="R414f4bf9f1d848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5a7fef9db4f00" /><Relationship Type="http://schemas.openxmlformats.org/officeDocument/2006/relationships/notesSlide" Target="/ppt/notesSlides/notesSlide3.xml" Id="R86d87b7afe4742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21518239843d4" /><Relationship Type="http://schemas.openxmlformats.org/officeDocument/2006/relationships/notesSlide" Target="/ppt/notesSlides/notesSlide4.xml" Id="R76116c32b1b9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2bad94ed8479a" /><Relationship Type="http://schemas.openxmlformats.org/officeDocument/2006/relationships/notesSlide" Target="/ppt/notesSlides/notesSlide5.xml" Id="R48966cad3859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be594c2914d90" /><Relationship Type="http://schemas.openxmlformats.org/officeDocument/2006/relationships/notesSlide" Target="/ppt/notesSlides/notesSlide6.xml" Id="R6eb5c9ad7e21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0591f6c94b89" /><Relationship Type="http://schemas.openxmlformats.org/officeDocument/2006/relationships/notesSlide" Target="/ppt/notesSlides/notesSlide7.xml" Id="R37b20d227162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887c962e4d40" /><Relationship Type="http://schemas.openxmlformats.org/officeDocument/2006/relationships/notesSlide" Target="/ppt/notesSlides/notesSlide8.xml" Id="Re309b359449a48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C5326-C308-4DD5-86EC-3A4E4234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C8FE5-3C72-4D89-8633-E8E1695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D6413-BF33-46A7-8F2C-AF5F412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29972-E709-45B5-AC8A-E7A19344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B49A-F833-41A1-BA96-0403EA93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191CC-E64C-4CC4-A09C-86C040CF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8E68-D1D5-4939-BF3C-85BAFDE5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99377-359B-44E2-9F9E-C67988B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13E16-75C8-4C92-9DBD-B7C583F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890F7-6685-4B54-80A7-3323D903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226F3-179B-4807-958F-39F2409C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648A2-FA3A-4664-9B2D-D1CC85C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88944-3156-43F7-8F05-B30DFC80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B566E-A7A3-4EA1-B504-DB8BB7A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90FD0-811C-4618-937D-14AF850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411F6-C2E3-404C-B42B-CF11CC7A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97403-556C-4143-BFEF-B75F14EB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B0ADD-6FDC-400C-AFB5-ECE68E3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28FD1-07AC-4384-A16C-B4168E3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E971E-F74D-4FE6-9E03-E6E9342B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BE77E-6EB9-44EF-8635-E1DEDA1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BDB21-6B2F-4138-94B9-820FC1F4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5D868-5CA7-4ECC-BE87-5CA0AE86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57D49-5AFE-46A2-A387-24FF6B9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03247-932A-4C38-B7CE-DAE0DD9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ENPAL SMART ENERGY COMPANION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F10A7-7E80-419E-9893-D437930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One trusted action from the whole electric 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9C2DA-8348-40F7-923E-C8AF551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A Garden-style slide design for the AutoByteus application repo: one visual beat, one decision, evidence always visible.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77AFD-4C88-41C5-9A39-27465BE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14288">
            <a:solidFill>
              <a:srgbClr val="F4B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C01BA-2D7E-4649-A928-86C7AB6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PV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262F5-C444-4BF3-8547-DA9CEEF0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29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BF4EA"/>
          </a:solidFill>
          <a:ln xmlns:a="http://schemas.openxmlformats.org/drawingml/2006/main" w="14288">
            <a:solidFill>
              <a:srgbClr val="2454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D178A-0DE4-4F16-A545-859FF29E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Battery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DAA1A-A020-4A19-98FF-2CF17555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14800"/>
            <a:ext cx="129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4288">
            <a:solidFill>
              <a:srgbClr val="002F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58DF5-3631-475F-B66B-3031241D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86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07CF47-1C86-4156-89E1-6FCE4D56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5F1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62A72-7397-46A9-87A8-C2B087C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Heat pump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219BA7-F953-4CC2-9F39-30C198E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4288">
            <a:solidFill>
              <a:srgbClr val="D95F5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BE5F88-077B-4682-9C55-F03D47FA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Grid + tariff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119C3-5D34-4073-A24E-19FAE1B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31051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7211F"/>
          </a:solidFill>
          <a:ln xmlns:a="http://schemas.openxmlformats.org/drawingml/2006/main" w="9525">
            <a:solidFill>
              <a:srgbClr val="1721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517399-5EC2-453D-A9D7-DEB71F1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TODAY'S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C98039-3BE7-42FE-9374-93E3A2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343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Charge EV in the best window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7CEA2-FA7C-4A8B-968C-FCD31A9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75" b="0">
                <a:solidFill>
                  <a:srgbClr val="DDE8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DD"/>
                </a:solidFill>
                <a:latin typeface="Aptos"/>
                <a:ea typeface="Aptos"/>
                <a:cs typeface="Aptos"/>
              </a:rPr>
              <a:t>Backend-calculated.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275" b="0">
                <a:solidFill>
                  <a:srgbClr val="DDE8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DD"/>
                </a:solidFill>
                <a:latin typeface="Aptos"/>
                <a:ea typeface="Aptos"/>
                <a:cs typeface="Aptos"/>
              </a:rPr>
              <a:t>Homeowner-readable.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275" b="0">
                <a:solidFill>
                  <a:srgbClr val="DDE8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DD"/>
                </a:solidFill>
                <a:latin typeface="Aptos"/>
                <a:ea typeface="Aptos"/>
                <a:cs typeface="Aptos"/>
              </a:rPr>
              <a:t>Reminder-only.</a:t>
            </a:r>
          </a:p>
        </p:txBody>
      </p:sp>
      <p:cxnSp>
        <p:nvCxnSpPr>
          <p:cNvPr id="90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2133600" y="3200400"/>
            <a:ext cx="3429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cxnSp>
        <p:nvCxnSpPr>
          <p:cNvPr id="91" name=""/>
          <p:cNvCxnSpPr>
            <a:stCxn xmlns:a="http://schemas.openxmlformats.org/drawingml/2006/main" id="30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771900" y="3200400"/>
            <a:ext cx="21336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cxnSp>
        <p:nvCxnSpPr>
          <p:cNvPr id="92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3771900" y="3829050"/>
            <a:ext cx="21336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cxnSp>
        <p:nvCxnSpPr>
          <p:cNvPr id="93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543550" y="3829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cxnSp>
        <p:nvCxnSpPr>
          <p:cNvPr id="94" name=""/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543800" y="3829050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0A3D13-B4C0-4E2A-B504-A3FC6437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4572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4E188D-F98D-4696-9506-E3D7063E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43575"/>
            <a:ext cx="430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3D"/>
                </a:solidFill>
                <a:latin typeface="Aptos"/>
                <a:ea typeface="Aptos"/>
                <a:cs typeface="Aptos"/>
              </a:rPr>
              <a:t>AI explains. Backend calculates.</a:t>
            </a:r>
          </a:p>
        </p:txBody>
      </p:sp>
    </p:spTree>
    <p:extLst>
      <p:ext uri="{BB962C8B-B14F-4D97-AF65-F5344CB8AC3E}">
        <p14:creationId xmlns:p14="http://schemas.microsoft.com/office/powerpoint/2010/main" val="1581112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AF944-6802-440E-B331-F9CCBD7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ACCE5-D22F-45EE-B197-9A40B9B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3CBB1-2226-42D0-89A4-41C74E35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79DAD-1CA9-41FF-97A9-ECEE0C91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372A5-2928-44AA-AAF9-EC03F24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1334-F5DB-4DE5-92D9-83485BD4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72B48-AE35-45EB-9247-CC1C689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DB3BD-7C27-478A-9712-578BBBC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3B7D4-2FC3-49D8-B40A-3F8BF3C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4F5F4-D907-417F-890B-70834EC2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0C4C8-F443-4F2B-8C2F-2B55CFE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02608-3F4D-4AD3-BA81-839F18C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0272B-4845-414A-BE9F-C7F9C0C5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206F7-E8F1-457C-A764-44EF810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FB55A-B525-409C-958B-38EFA3E0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6D498-70E3-4914-9218-944A7F5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50C7C-2A5C-44F7-BD34-0BAC5436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7E330-2DF7-465B-8663-15EBDC2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BAB69-A66E-4E9D-8F4B-161524F6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F67BB-DBD4-4B61-A832-24DA5AA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E97D4-E388-43B5-8242-19763D6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C8738-F61E-4D55-A794-EBC144B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0FD7C-1054-4FE3-BD09-1A47903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B8036-EE86-4F93-9929-BF4A9DD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7992F-9565-4C68-BE45-D55974A4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THE HOMEOWNER PROBLEM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7665E-8FD5-4D85-802B-F35E1B6E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The data is present. The decision is missing.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0A23D-A0E4-4645-BC58-2F22A97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Once a home has solar, storage, EV charging, heat-pump load and dynamic tariffs, the useful product is not another chart. It is the next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D203E-2833-4987-B278-1C193C18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4000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7211F"/>
          </a:solidFill>
          <a:ln xmlns:a="http://schemas.openxmlformats.org/drawingml/2006/main" w="9525">
            <a:solidFill>
              <a:srgbClr val="1721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933E9-CC45-402C-A84D-AF3240B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Should I charge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car now?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17C75E-E1C6-4D68-B62F-6F8E449E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DD"/>
                </a:solidFill>
                <a:latin typeface="Aptos"/>
                <a:ea typeface="Aptos"/>
                <a:cs typeface="Aptos"/>
              </a:rPr>
              <a:t>One question crossing six systems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E343A-0F65-4D9B-8E34-B422C65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4B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A5246-34F1-4C2B-9DAF-37FBDD9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Solar forecast</a:t>
            </a:r>
          </a:p>
        </p:txBody>
      </p:sp>
      <p:cxnSp>
        <p:nvCxnSpPr>
          <p:cNvPr id="82" name=""/>
          <p:cNvCxnSpPr>
            <a:stCxn xmlns:a="http://schemas.openxmlformats.org/drawingml/2006/main" id="3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952750" y="3200400"/>
            <a:ext cx="11430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000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D98D72-6400-4123-AF5C-070D364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43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A992B-E6A5-462F-BF45-9EB9603B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Battery SOC</a:t>
            </a:r>
          </a:p>
        </p:txBody>
      </p:sp>
      <p:cxnSp>
        <p:nvCxnSpPr>
          <p:cNvPr id="85" name=""/>
          <p:cNvCxnSpPr>
            <a:stCxn xmlns:a="http://schemas.openxmlformats.org/drawingml/2006/main" id="3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2857500" y="3800475"/>
            <a:ext cx="12382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3D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02C675-4571-47A0-8DFF-6F60389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2F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16A225-59C9-431F-816D-874E30B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24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EV deadline</a:t>
            </a:r>
          </a:p>
        </p:txBody>
      </p:sp>
      <p:cxnSp>
        <p:nvCxnSpPr>
          <p:cNvPr id="88" name=""/>
          <p:cNvCxnSpPr>
            <a:stCxn xmlns:a="http://schemas.openxmlformats.org/drawingml/2006/main" id="3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4095750" y="3800475"/>
            <a:ext cx="838200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55A874-4C6F-4DF1-A00E-DB6738B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D10958-A3F8-447F-BC5A-B552627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24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Heat pump comfort</a:t>
            </a:r>
          </a:p>
        </p:txBody>
      </p:sp>
      <p:cxnSp>
        <p:nvCxnSpPr>
          <p:cNvPr id="91" name=""/>
          <p:cNvCxnSpPr>
            <a:stCxn xmlns:a="http://schemas.openxmlformats.org/drawingml/2006/main" id="4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4095750" y="3800475"/>
            <a:ext cx="5524500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93E6E4-77CC-48C9-ACB7-6358648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6245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F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61E325-F03F-443B-A562-843E9E1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Import / export price</a:t>
            </a:r>
          </a:p>
        </p:txBody>
      </p:sp>
      <p:cxnSp>
        <p:nvCxnSpPr>
          <p:cNvPr id="94" name=""/>
          <p:cNvCxnSpPr>
            <a:stCxn xmlns:a="http://schemas.openxmlformats.org/drawingml/2006/main" id="4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4095750" y="3800475"/>
            <a:ext cx="70294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F59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25A8D1-765E-4688-84A4-D18F710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2F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2A736A-A81F-40B0-B226-2A9D3E9A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Bill + contract</a:t>
            </a:r>
          </a:p>
        </p:txBody>
      </p:sp>
      <p:cxnSp>
        <p:nvCxnSpPr>
          <p:cNvPr id="97" name=""/>
          <p:cNvCxnSpPr>
            <a:stCxn xmlns:a="http://schemas.openxmlformats.org/drawingml/2006/main" id="4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4095750" y="3200400"/>
            <a:ext cx="68199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FA7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147EE6-F564-4A98-B5C5-A2179C1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Garden design beat: each stream is not a bullet. It is a pressure feeding one decision.</a:t>
            </a:r>
          </a:p>
        </p:txBody>
      </p:sp>
    </p:spTree>
    <p:extLst>
      <p:ext uri="{BB962C8B-B14F-4D97-AF65-F5344CB8AC3E}">
        <p14:creationId xmlns:p14="http://schemas.microsoft.com/office/powerpoint/2010/main" val="1620352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FED53-ECB3-4C79-9FA4-2B3F1F46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4079C-A019-476E-B929-E2B8FE8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3D012-5C26-4997-8462-7A52E7E1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4F6BD-82F1-4D8D-8450-664D3FA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21591-56A3-481B-9565-459B799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DF4D3-0A2E-41B9-B5F8-AF7F4FC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A67AA-7E21-4211-83F2-0AF49C5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CFBB5-196F-4DB6-97F9-6ED53DA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2A015-D6B3-48F3-8BC6-1CFEFD3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46DA1-97C5-4875-8103-60FC6B6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ACD5D-12EB-48FC-BDCD-384C3FB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A56FF-F0F6-4E88-8800-A0D12D5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F4F07-229B-4E78-BA82-CC217BE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6FD22-1548-4347-AAD5-62B2233E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9571D-756E-48C9-9A8D-BB7225A1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ED19B-A015-487A-9F5A-3D185D2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77B9F-3653-4589-8098-64B246AD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CACA2-13EB-42E1-A606-D5685C1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F9896-6F58-4CCE-801A-98B5D9E5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86C91-91AC-4A02-A2DD-D751D52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CBCEC-0EB0-4983-9F57-EF1498A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CF3BA-3345-4787-A158-83ACD98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AF350-6804-4207-B49C-9407A2B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AA7F3-AE8A-4CB5-8957-0164CFF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0A5CC-DAD3-40CA-AFA2-C1C1D488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PRODUCT EXPERIENCE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0735B-11AC-4989-8D8D-CE748F96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Five destinations, one homeowner journey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CBA56-7664-4FC9-AD42-9BA9F7A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The repo has a customer-facing app shape: setup, daily plan, device meaning, bill/tariff clarity and grounded Ask Enpal answers.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5665A-4C32-4206-820E-B453C15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885950" cy="23431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97E9E-A4B4-4F41-B303-0E3D52C9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4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54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130F5-D60A-4F63-BE6E-308AB4E4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AAD80-03F2-4B9F-B8DA-C395878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Create or review a home profile, inventory and data-source choices.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8B74B-1DBA-424D-8F0F-B07316B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885950" cy="23431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E4F61-D9BB-4F0D-9E85-D63EF3A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F544C-9371-43A4-B9E7-3FDA7A2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F26E19-30E2-44C4-BD3A-3EB64C76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Show one main recommendation, metrics, windows and plan actions.</a:t>
            </a:r>
          </a:p>
        </p:txBody>
      </p:sp>
      <p:cxnSp>
        <p:nvCxnSpPr>
          <p:cNvPr id="88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686050" y="3895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8B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6E55C-BCB7-48AC-A8F5-3A10AA1F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885950" cy="23431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BA3AE5-AC00-4602-832E-86D40FE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FD023E-45E9-49EA-9D4E-8B0A86F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Devices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2ED796-A433-46D4-BE39-9981CFD0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Explain PV, battery, grid, EV charger and heat pump state.</a:t>
            </a:r>
          </a:p>
        </p:txBody>
      </p:sp>
      <p:cxnSp>
        <p:nvCxnSpPr>
          <p:cNvPr id="93" name=""/>
          <p:cNvCxnSpPr>
            <a:stCxn xmlns:a="http://schemas.openxmlformats.org/drawingml/2006/main" id="3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4895850" y="3895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8BE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FE00F2-6BA2-4750-8CFD-2F602A1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885950" cy="23431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8482D6-AB10-4333-B72C-F3FA0FD5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5F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37E2DA-8229-43D5-8655-04985FF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Bills &amp; Tariff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7BEAF8-7651-4FFB-ADC8-AF988C8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Turn contract, cheap/avoid windows and drivers into plain guidance.</a:t>
            </a:r>
          </a:p>
        </p:txBody>
      </p:sp>
      <p:cxnSp>
        <p:nvCxnSpPr>
          <p:cNvPr id="98" name=""/>
          <p:cNvCxnSpPr>
            <a:stCxn xmlns:a="http://schemas.openxmlformats.org/drawingml/2006/main" id="37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105650" y="3895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8BE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0234D7-B7EF-4CB6-A0B5-8FB638BE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1885950" cy="23431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F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A4C653-D7CA-4E03-B727-1041D509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C9FE82-8568-4016-B0AA-BABD19C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Ask Enpal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ED8A87-EC6E-42E7-AD6A-0CD9970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Answer from fact packets, with mini visuals and evidence.</a:t>
            </a:r>
          </a:p>
        </p:txBody>
      </p:sp>
      <p:cxnSp>
        <p:nvCxnSpPr>
          <p:cNvPr id="103" name="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315450" y="3895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8BE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DF1805-7CCE-4D8D-AFC9-8342214A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The application boundary is GraphQL-backed and app-owned, not a loose prototype page.</a:t>
            </a:r>
          </a:p>
        </p:txBody>
      </p:sp>
    </p:spTree>
    <p:extLst>
      <p:ext uri="{BB962C8B-B14F-4D97-AF65-F5344CB8AC3E}">
        <p14:creationId xmlns:p14="http://schemas.microsoft.com/office/powerpoint/2010/main" val="1580652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6DAE8-2349-4FF2-A63F-8372016D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59E8A-88DD-4928-8A2B-7E81C778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ADEF8-BE13-4F9E-AFC1-60584FE5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1A598-8BA1-4E58-BEFF-43B68485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B12F3-BE9E-47B4-AF8E-A96C5D1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8B9B5-902A-4D7B-9CC9-B9C173E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84CE5-BACB-42EC-9CDC-1A793B4F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AC616-0F09-4587-B26C-4444774B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C0C9E-D161-479B-A79A-CC2C7C1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37EC8-AF80-499E-8F1E-0BC4FE1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29240-4274-465D-8C34-B0FFDE92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584DD-EC37-49CD-994D-1EC3C301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B28C2-6C75-4B6F-BB5A-44C5EF17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2D5C2-517D-4404-A9B9-5ED9C46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43CC9-799B-4809-8A49-864647B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3F319-F841-4A96-BF68-7B355BF9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8DF96-B4A2-4431-8FA3-363DA45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A5E4E-DBFF-4D65-9C7C-834D3C4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4B6A2-9F92-4EAF-87C9-51F8DDE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6232D-E8B1-43D9-8D23-836088D8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43A91-D3D6-4CA4-A12A-C1728A42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DDD71-7C74-42F2-9370-1EBF25D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98BAC-D9F6-4F6D-B121-31DA7689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6E101-3C55-4240-B412-43F3096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A099A-E38B-4F36-9093-08E25BA5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345FE-CDB4-4686-8016-64D79F81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EV timing becomes a simple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9607D-7DE6-4F32-869E-8EB2BF44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The what-if service contrasts charge-now cost against the optimized window, then carries the same facts into the plan card and Ask Enpal answer.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7EB49-C741-4EDE-8AB5-9F51AE0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13AD9-307D-4135-B8E3-814E58A1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9F47B-A96F-450B-93B7-AD25EAB1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Option 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E7C67-97CF-43FD-B09D-19BDDBB6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Charge now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F7504D-8729-4A93-875A-AF76C77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Fastest, but may draw from grid at the current price.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105C99-BC98-4D45-ACD9-6AA9CA2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2FB9D-6CF8-41A0-AEA9-B706B16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E2EDAB-3B47-4312-B790-D23DB68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Option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50382-633A-4CA9-8609-DA3A5C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Charge later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1C6611-E5D3-4D5D-8E1C-455E702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86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Uses the selected EV window, planned import price and forecast solar contribution.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E6F2DE-F1D7-4CDC-B189-CD0DD6D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7241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7211F"/>
          </a:solidFill>
          <a:ln xmlns:a="http://schemas.openxmlformats.org/drawingml/2006/main" w="9525">
            <a:solidFill>
              <a:srgbClr val="1721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5ABA8-6C3A-4D28-8E96-A5B5076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EVIDENCE RECEIPT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880AF-E09A-432C-9742-E29B563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0EED2F-5CC4-4954-9062-F4B1295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670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D04D6A-495F-43C4-8F3C-20189403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import price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CC450-513A-4C8B-BD30-DBC4848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354D5-0EB4-4307-B7F4-A2658F4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052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53EE01-1413-4871-890F-225B70A8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95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 solar surplus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6A80EF-21E9-4090-AE46-59D2FAB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5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3A3392-E092-47FB-A49F-4B5900A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C2F75-3314-4D15-8516-FC551B5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Wallbox limit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C562E6-F9A0-4797-9DD7-DF8FCA1D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9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1233DB-0BB9-4D49-B1C6-059CDF11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81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816921-BE2E-4E65-9037-B73F7EE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Departure deadline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7B2836-F6EA-4ACB-99FE-7D74B18A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530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Recommendation copy: save a charging reminder. No charger command is sent.</a:t>
            </a:r>
          </a:p>
        </p:txBody>
      </p:sp>
    </p:spTree>
    <p:extLst>
      <p:ext uri="{BB962C8B-B14F-4D97-AF65-F5344CB8AC3E}">
        <p14:creationId xmlns:p14="http://schemas.microsoft.com/office/powerpoint/2010/main" val="1521257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130DE-BA9E-42F2-BDFF-B3FA7FE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BC1A3-6027-4096-B16E-8458EC0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CA637-B574-452A-9D3C-DC4FA0F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E7960-18B7-4919-BB36-24631DC3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54A42-8E88-4F5F-B887-B003D76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9C378-4514-4F24-8C79-B29E64AA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D3667-F63D-450A-A955-A1347F1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74E7-BD55-4976-B40B-7FFD2CFD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E368-A6D7-4943-A3D9-BB13D6C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71534-A46F-4051-9C7F-B11E9298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93D31-2F8D-4D14-8E5D-6088308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A2F08-2033-48DE-809C-BA9E2084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ECAD6-DB90-40BF-A508-D79C76E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6EDF3-19A2-41D8-B4F9-A2EACB14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5E665-82BD-43FD-BCAF-044554B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00F0F-1614-4F8F-AF74-805973C7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D2990-64E0-4209-9113-DEB3BABD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DAE33-6A5F-4AA2-9C9D-557667D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DD277-8323-401E-ABE8-CED8A186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4D2D0-546B-4114-8EE4-9B05808F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0924F-637F-4B9A-ABAB-ADA8E0E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8B345-44E9-4216-9698-44AF52DC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1BF2E-B4D5-4FFA-B814-9A51BC04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9C5A4-4089-4CC9-8085-2F3A73E5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6B51A-018E-44DC-9435-2549836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DECISION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74A37-9774-45A6-B6EC-9831843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 rolling 24-hour plan, scored in 48 half-hour slots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58762-1418-4CB5-9973-978B8A5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The optimizer balances price, solar surplus, battery constraints, heat-pump comfort, EV deadline, export value and carbon weight.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D5086-DE42-47EA-B82E-A715B99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D063F-387D-41D1-A3B9-21079853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F5EBB-DE43-431B-BD5F-3A418E21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AF5BBA-A971-4BBF-BFB9-5CC90F7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8647E1-CC08-4C74-AFFB-5F89DB3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2277A-486F-47F0-B021-B4E5737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4D5AB-7AA9-4D7A-BCF8-D8A933B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111E7E-8BE7-406C-9444-A3D0C56A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solidFill>
              <a:srgbClr val="D95F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330EB5-D462-4ED0-A4CE-6EEB69A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3E0AC-2D02-41A0-B50E-3B967204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96F1C-3476-4EF6-AA67-4B50C935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B2EE96-7612-46E2-B9C5-19E0ECDB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B742D4-7634-4276-8D23-5E92FC7E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AB91C0-4D00-4AC4-80B8-B9C3579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41404-1AF8-449A-A722-CB25EB3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9AFDD3-6B2C-4062-930A-1F33F03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5AFE5-7823-4379-A50E-AB37857C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832DF6-1255-4A33-8951-73869403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FD004-92D5-411C-8116-10970519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43A59C-C67A-40A1-9DDD-E522F39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C505A2-1868-49DD-9552-216A163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2247C8-E081-4CC0-80DD-FCE08EF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8D20A7-423F-4034-B5FF-D14E620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102AF4-6E81-48A2-9843-4452D574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D3456D-FDA7-437D-982D-15F683B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7D4BF5-FD10-46B3-8B11-929F08D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8A37F3-50AD-43F1-841B-A160985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5F9E16-CD57-44DF-8043-32EF92E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1B7A4C-B2BB-44DB-980C-8F707A54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637536-4793-436D-8AD3-AC568EC4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3628D3-2C8D-4FEE-8D2B-711ACBF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DDC51F-059F-48AB-9D2D-589A9BA2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B000"/>
          </a:solidFill>
          <a:ln xmlns:a="http://schemas.openxmlformats.org/drawingml/2006/main" w="0">
            <a:solidFill>
              <a:srgbClr val="F4B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ED1A03-F997-46CE-8597-E47F60DC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934693-A4CE-4A9C-A7A7-001A744A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1FCB8D-0A5E-4FB2-8F5E-D417D8F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10CBA5-D3EF-4259-8BFC-5390916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1F9D99-B73D-4C8A-ACCE-0D89FBF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69414F-7668-499B-AE57-E77F39F6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6B62AF-47F0-4FA8-A85B-C4E496B7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95266A-6C8A-4C6D-B7C8-40EBDEDD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43D"/>
          </a:solidFill>
          <a:ln xmlns:a="http://schemas.openxmlformats.org/drawingml/2006/main" w="0">
            <a:solidFill>
              <a:srgbClr val="24543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5CC0C6-3F38-4D08-B4A3-572F940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BAE9E1-BFE3-4C5B-A280-4DB7BDA0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6E5E54-8030-4783-9B4B-8CD08D5D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D6A621-AF97-4E32-8A5C-DA8C5C3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6B289C-5493-40B7-8C67-9DE553F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D2FFAE-5384-4705-9890-ECC7FC24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5070DF-BA63-4FD1-B746-34FCA8DD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432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CFBB943-5C6F-4EB4-811A-1F52513F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09900"/>
            <a:ext cx="190500" cy="228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4F97C3-4F2E-439D-8E25-965E745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00:00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0BAE4B-CE9D-4D97-8A35-7311F7F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12:00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E91F28-A65A-40F8-921A-61D9D12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24:00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C115FD-7514-4724-BCBF-810F003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1676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5F5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04A5CF-12D4-4E5A-8222-EC57745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F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5F59"/>
                </a:solidFill>
                <a:latin typeface="Aptos"/>
                <a:ea typeface="Aptos"/>
                <a:cs typeface="Aptos"/>
              </a:rPr>
              <a:t>Import cost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7FF23E-F49F-456A-A253-7F1EB3C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1676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377624-4C94-4DED-B1DD-4EC809D4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00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Export credit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98289F-DC15-4B56-B97E-13A63B7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676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3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B3AD4D-9513-4480-B04B-F0497BA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100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3D"/>
                </a:solidFill>
                <a:latin typeface="Aptos"/>
                <a:ea typeface="Aptos"/>
                <a:cs typeface="Aptos"/>
              </a:rPr>
              <a:t>Battery cycle cost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FC4A05-F983-45DE-9FA4-1EF2882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43400"/>
            <a:ext cx="1676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D51F97-117C-4B0B-A24C-2FB1017D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100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Comfort penalty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F394D8-6F5F-4161-9F3F-30726E03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1676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FA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CF2E880-45A8-4CE8-9653-EE85DFB0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00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Carbon weight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36BC26-933C-4A56-937B-9A298F0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902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Output: EV window, appliance window, peak avoidance window, trading decision and plan value.</a:t>
            </a:r>
          </a:p>
        </p:txBody>
      </p:sp>
    </p:spTree>
    <p:extLst>
      <p:ext uri="{BB962C8B-B14F-4D97-AF65-F5344CB8AC3E}">
        <p14:creationId xmlns:p14="http://schemas.microsoft.com/office/powerpoint/2010/main" val="170525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75101-E700-4757-BE23-8CD9D6A2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92B92-3B71-4F2C-8361-7657FBB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36035-87CE-4ABC-95C8-C1D8B91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9B467-C6C0-4239-B18D-BD5334F9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D750C-27F7-4220-9D79-A265EBF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3322B-8F15-4B0F-AD2A-5B468E1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B0D69-A387-47EE-B60E-2C77032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D2A06-C994-4897-A603-FAFED4E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29042-FAA6-4167-B95E-C9C891E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45082-AE5C-44E5-AC2C-D6ADF993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BA9BF-0403-4175-A965-1D5527E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4BE3E-D117-4FAF-94FD-FACE9B5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B321C-0F0F-44D8-8477-F9EB337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BB341-1F4E-40FB-BC42-2BCF42C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E7C62-439E-4C9F-89D4-0CF9847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6AF57-D24B-4CDB-BFFB-79E196D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4CC37-5247-408A-8137-57DAE63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1B574-59B6-4961-BB50-2FDC842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B3080-70FC-4173-AD06-01C15F2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6E1E6-5651-40C0-A0A8-16DCAE8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489C8-C07E-44B3-8EE8-77E25C1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1BA83-69C4-4801-8AE4-1C17D25E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3AC8D-8776-4FDA-B5C9-9BF1579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7191D-7806-450E-AFD9-D91CCEB4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F1D4A-20AB-482C-991D-102EECB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TRUST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860F9-FEBD-477A-9FCE-4027C1F5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AI explains. Backend calculates.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F3257-4080-4EBF-B321-6B51D64B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8134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4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FDD26-3056-4AA2-904A-E67AFF4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>
                <a:solidFill>
                  <a:srgbClr val="2454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543D"/>
                </a:solidFill>
                <a:latin typeface="Aptos"/>
                <a:ea typeface="Aptos"/>
                <a:cs typeface="Aptos"/>
              </a:rPr>
              <a:t>Local profile + 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0CD11-EEBD-4473-A53A-DD003282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574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Starter templates create editable homeId-backed profiles and confirmed device inventory.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868FB-8DE9-4094-AC4E-89E3F886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8134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2F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09C67-44A5-4AC5-8316-3DEDE55F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718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Deterministic facts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D10E2-3B3E-45AB-A915-BFB6ACB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813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Forecasts, pulse, tariff digest, bill forecast and recommendations are calculated by backend services.</a:t>
            </a:r>
          </a:p>
        </p:txBody>
      </p:sp>
      <p:cxnSp>
        <p:nvCxnSpPr>
          <p:cNvPr id="79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572125" y="27241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CC8BE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F9D7E-3819-4E28-9A7F-D2A259F6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8134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4B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268B0-6B5F-4337-9AAE-23443569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957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Fact packet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F866F-79C5-4ECB-B8F9-C8B91E1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52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Question intent selects only the relevant facts, evidence and assumptions.</a:t>
            </a:r>
          </a:p>
        </p:txBody>
      </p:sp>
      <p:cxnSp>
        <p:nvCxnSpPr>
          <p:cNvPr id="83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5572125" y="3448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CC8BE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4D6DA1-E216-4175-A7AB-47A9D797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8134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0939E0-63BA-4AA2-AF53-DBD94011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196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Optional Energy Advisor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9136B7-C87A-45C6-991D-116DA7F4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291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Rephrases the supplied packet and publishes one artifact path only.</a:t>
            </a:r>
          </a:p>
        </p:txBody>
      </p:sp>
      <p:cxnSp>
        <p:nvCxnSpPr>
          <p:cNvPr id="87" name=""/>
          <p:cNvCxnSpPr>
            <a:stCxn xmlns:a="http://schemas.openxmlformats.org/drawingml/2006/main" id="3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5572125" y="4171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CC8BE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58D72E-86C3-4F15-83F4-08FF628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134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F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BA7D7-C184-46E4-85AF-11FCE19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>
                <a:solidFill>
                  <a:srgbClr val="D95F5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5F59"/>
                </a:solidFill>
                <a:latin typeface="Aptos"/>
                <a:ea typeface="Aptos"/>
                <a:cs typeface="Aptos"/>
              </a:rPr>
              <a:t>Customer answer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FA22FB-AB94-4F52-954A-6AE5FA19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530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Direct answer, why, impact, next action and Based on evidence.</a:t>
            </a:r>
          </a:p>
        </p:txBody>
      </p:sp>
      <p:cxnSp>
        <p:nvCxnSpPr>
          <p:cNvPr id="91" name=""/>
          <p:cNvCxnSpPr>
            <a:stCxn xmlns:a="http://schemas.openxmlformats.org/drawingml/2006/main" id="38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5572125" y="4895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CC8BE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B83B43-10B5-4FA8-ACEC-54DEE4F4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817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Agent contract: never invent device data, prices, tariffs, savings, dates or guaranteed outcomes.</a:t>
            </a:r>
          </a:p>
        </p:txBody>
      </p:sp>
    </p:spTree>
    <p:extLst>
      <p:ext uri="{BB962C8B-B14F-4D97-AF65-F5344CB8AC3E}">
        <p14:creationId xmlns:p14="http://schemas.microsoft.com/office/powerpoint/2010/main" val="781222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2A1FE-9E4C-43E2-B8F2-3F82F0B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45727-6ABE-497A-82D5-C996F1DC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CA85B-FCAB-4B27-9718-EE855CAD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2D816-5013-46FC-8197-97A8B65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361BB-3A51-4269-B0FA-9FBF17D8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00A69-B03B-496F-88C1-40AD4D2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C5675-E569-42C0-BB4C-2D46CB9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5200A-D9BB-4F45-B415-37615DA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D8D77-0D4C-414F-A565-1DDE2346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9964F-AB1A-4073-B456-E710F82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610FC-96AC-4FD1-9597-E1B9A0BC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91AB1-FA92-40D1-BC2E-823FBA0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F95FE-58E7-471D-A54B-2CB397AF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082F3-34C1-4091-B934-71ECBE6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15AE4-0E56-4C43-A194-B8BCEC9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22A0B-7BAA-456D-8240-881D643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A3625-CD5F-49DE-87A6-2F6F825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CEF61-8C3A-45A0-8F13-1CAFC9F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FB353-D93F-4DE7-98D7-002C0F3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BE412-686F-4D43-AEEE-10C98659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2ACFE-0670-45A4-80D6-5AC0F6C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B8BEF-A84F-4ADB-8838-08D846A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7D14E-AE9C-4662-96B6-DD4F2CC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DB8E5-5B9F-465D-96C7-C3DE2918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9C063-584A-4BC7-9BFA-D671F67E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07077-4218-4E13-B85E-11C37DB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Demo realism without pretending to control the 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5D3BC-59E8-4F8F-9B3E-F2A51534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4495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F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90680-B39D-477A-B19B-65106D0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Synthetic local demo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1CB62-89EA-424F-AD84-F428959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Fresh SQLite demo state is recreated at startup; old sessions are disposable.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64934-CAFA-4387-A4CC-7BCAC2E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4495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EBC7C-900E-493D-AD55-95AEEEDD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4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543D"/>
                </a:solidFill>
                <a:latin typeface="Aptos"/>
                <a:ea typeface="Aptos"/>
                <a:cs typeface="Aptos"/>
              </a:rPr>
              <a:t>Reminder-only actions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D7AF8-0AB6-4122-A70B-9E2CAFE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Records a simulated reminder; no command or transaction is sent.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B9D36-202E-43A7-8014-77241C3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4495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8189D0-4FB8-4060-BC79-882B7691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F5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5F59"/>
                </a:solidFill>
                <a:latin typeface="Aptos"/>
                <a:ea typeface="Aptos"/>
                <a:cs typeface="Aptos"/>
              </a:rPr>
              <a:t>No hardware command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E1C1B-57EF-4AFA-A9D8-6C860153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Real inverters, wallboxes, heat pumps and meters stay out of scope.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16A58A-9048-42CC-AEDB-CC707F1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4495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01617-BD5D-43BA-8448-ABBB7EF2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00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B000"/>
                </a:solidFill>
                <a:latin typeface="Aptos"/>
                <a:ea typeface="Aptos"/>
                <a:cs typeface="Aptos"/>
              </a:rPr>
              <a:t>No market order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6ACBDE-D217-4026-9C9F-B3E3E43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Export/sell guidance stays planning advice, not grid execution.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6A6BFC-D701-4C77-BD1D-58D7213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24550"/>
            <a:ext cx="944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This boundary is a strength for a judge demo: credible guidance first, controlled execution later.</a:t>
            </a:r>
          </a:p>
        </p:txBody>
      </p:sp>
    </p:spTree>
    <p:extLst>
      <p:ext uri="{BB962C8B-B14F-4D97-AF65-F5344CB8AC3E}">
        <p14:creationId xmlns:p14="http://schemas.microsoft.com/office/powerpoint/2010/main" val="925810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0CBD6-D230-4A27-A57B-7B34987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6C2BD-624B-4028-AF8E-59DC8EE6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BFB45-EB7A-4A77-BD1D-BC2CB6E2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9A315-DD79-450F-88FE-D2F0A0E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3699-8FF1-41DA-8B4C-17FD5B5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E80F9-A4EB-4046-8ECF-CDDF5CAA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A1DDF-7563-4C4D-9965-9051DC5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4D553-15FD-4420-B8D4-4D426C0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53142-ADD1-4AF9-9A9A-28668444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F30E5-F376-43C9-B45A-D034C8A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8BC57-D0B8-4A17-B79A-4ACEBC2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FAE80-846B-463B-9C84-FB121176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981F3-E04E-47CA-A17E-8A528047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97791-F9B7-4B8E-A741-1C1C4D20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C00A9-ADE4-458F-990F-DDDC14C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A1EF3-0C13-472D-8FCF-D0E9814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F8481-DEDE-42B9-961C-F19FA365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A716F-4152-47C0-BF79-4FE2BA0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2108E-AB52-4D73-8A09-FCBC684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4D447-C8FF-432C-9577-68FB155C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708F2-8A1E-4B20-8357-1510B6C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183AB-DE61-462F-AB7C-ED81C58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C982F-8A2B-47C7-AA42-3D7D4570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B772D-B34A-4D4D-AE44-9683BC02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30AB3-FC89-4484-AEA2-29A6711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WHY THIS WINS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C193C-520F-4498-AF2C-D53ECB1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37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 customer product with an engineering spine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F3C4A-3630-440F-A111-727F8A0C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It is clear enough for a homeowner, grounded enough for a technical reviewer and bounded enough for a responsible demo.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ABF49-DFF5-4A2F-B28B-9732FA05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028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D0DFB-36B2-44CE-BCB9-020C92DD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62C5E-158C-4D08-B0C2-BEC810A8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Customer clarity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973BD-5F26-48C4-A94F-E224E6B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One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AA0CC-3B2A-4A07-9A7B-052B31FF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The app answers what to do today before the user has to read the dashboard.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C443B-D4CB-4A26-9667-E7A3B5D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3028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F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578900-8DEF-4E37-B78D-F82A559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0CC77E-A2C3-4943-A40D-3EAE951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Repo credibility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2E4ED-4F36-4407-A609-C99BE70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909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App-shaped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89742B-867E-4272-B05A-D29206A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86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Manifest, GraphQL API, local host shell, tests, package output and bundled advisor slot.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38215E-5ADD-4DC3-9E69-54E3038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028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C581C2-CC9A-45A1-A0BD-13C7FE9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0236DE-C594-4667-8E9A-24EEA493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E6A63"/>
                </a:solidFill>
                <a:latin typeface="Aptos"/>
                <a:ea typeface="Aptos"/>
                <a:cs typeface="Aptos"/>
              </a:rPr>
              <a:t>Production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2BE6DC-B7FB-4673-85D8-8A6EF6E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Bounded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453E23-32FF-4651-B07B-E6EDBD4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3"/>
                </a:solidFill>
                <a:latin typeface="Aptos"/>
                <a:ea typeface="Aptos"/>
                <a:cs typeface="Aptos"/>
              </a:rPr>
              <a:t>Replace demo feeds with real integrations, keep the fact-packet and consent boundary.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59F0A8-7642-445A-897D-00266FB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578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FA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FA7"/>
                </a:solidFill>
                <a:latin typeface="Aptos"/>
                <a:ea typeface="Aptos"/>
                <a:cs typeface="Aptos"/>
              </a:rPr>
              <a:t>Close 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9F9F2A-431B-41DA-94D8-BA6FCF4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Turn the electric home into a daily decision people can trust.</a:t>
            </a:r>
          </a:p>
        </p:txBody>
      </p:sp>
    </p:spTree>
    <p:extLst>
      <p:ext uri="{BB962C8B-B14F-4D97-AF65-F5344CB8AC3E}">
        <p14:creationId xmlns:p14="http://schemas.microsoft.com/office/powerpoint/2010/main" val="969968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2026-06-21T09:53:53.6330000Z</dcterms:created>
  <dcterms:modified xsi:type="dcterms:W3CDTF">2026-06-21T09:53:53.6330000Z</dcterms:modified>
</coreProperties>
</file>